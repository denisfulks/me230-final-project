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65" r:id="rId6"/>
    <p:sldId id="257" r:id="rId7"/>
    <p:sldId id="259" r:id="rId8"/>
    <p:sldId id="261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CE0D3-4041-4AFB-BAFB-A7227BF3F98E}" v="406" dt="2025-12-11T14:35:40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71D48-F39F-42FF-83C9-0EB5B38C01DC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E6AC3-7FEA-4BCF-B388-A6A274A16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72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2E6AC3-7FEA-4BCF-B388-A6A274A163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9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A6AD-84B3-0C3C-BAF8-4D31EF475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34B88-CF56-B2AD-0F09-6CAC8908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9691C-3342-DFE1-1CDC-CD681311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59220-3C68-6D90-F392-62D65A8BC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545C7-6ED2-F885-74BE-94136EFA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5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3094-C9E0-C7F2-8657-DAEC4C13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03953-CAB3-4EA8-BEFF-FF6C736A3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9FE02-1FF0-BD14-1A0C-9E41381D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BE12F-4C4F-EDE9-0462-68A278FDF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DF0DF-DC94-96EE-1185-3BC21F86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8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7ACD-9D57-E8C5-2863-C475C62F2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4F9E2-626A-8B7C-5E98-78B2134EA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A657-E955-629E-2CD5-5043EB75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9D6AC-2F9E-2F5B-7E8E-7532E6D1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D48D-2064-39A2-FC55-B3AD148E7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89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89F2-A4D4-C305-0705-173941D5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0229-8F46-3F0D-1903-C2B99FCF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980A6-E9C5-70FF-B078-3F0ACF151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4F6FD-1662-B19C-2049-14BDDB60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6DFD4-8A25-9529-1BB4-37188010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104BF-839A-319E-1661-FA68334F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6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8BF7B-78A5-084B-C991-4D9A7F9C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3C99B-F978-97D9-9511-78E1AF7E7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70DAD-1B3B-C668-4734-495C6C41C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ED68B-E166-6D05-5A21-32841EAF8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8526F-0F6D-C9F2-3AE3-DB715635D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437AEC-AB00-DAE6-730B-3F50CB0A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3DDA9-CC52-3B9E-835C-89C0EB0E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1E8697-D30E-8C66-9927-420F745F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5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7561B-9A67-AB58-FEDA-C552E3A88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69D84-3F0F-00A8-09E5-E75123A8B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70D60-E8F9-4A4B-63DC-BAACE84D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1BB9F-06AB-E81C-7F95-A4EA0EF6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3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D67BA0-9C93-C893-597A-236D42921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5C0A85-4008-86C2-8BBA-DEE4429C1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47461-DE09-9636-BA22-86E9387B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7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9FA4E-7D95-3890-2F00-E1117B175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201C3-3129-C063-F502-D1F103A9D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332EB-E397-F8CA-D047-48C27FB22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C551B-F6F9-0728-DD6B-9BA3BB1B0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013EA-077A-B2E8-F532-A9FC5737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15932-F115-4636-ECB2-567ACB4E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8ED9-413B-B8B8-FD5B-A5B6B2AD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2B35E-5508-6203-A270-4D9A97D74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6B6B2-73F3-4546-6D2D-BC940EE72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F22DC-20DF-3C35-D100-67CA87E9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41ECC-2775-6937-5EF0-D23BAB9C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2C3A0-151A-BC0F-798C-FEAF7025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525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B5ABF-BF8B-26D9-185A-57C6916E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64A3B-2716-5164-456D-008F4340E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776AD-BBC4-83F3-76F0-D9E0AC24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70EC8-6DE5-C520-B192-B75E5708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333E5-E33E-EAB9-E2DF-80BCB8BA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87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504EC-038E-7884-470B-876C750A99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34E9DA-3F92-29CF-DCB8-40AD19A59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F1EE9-AA04-E959-52CC-28A21E00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5CA24-A87C-B1D2-51C2-A0788F5B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457FF-E1D7-8FA7-892F-313DE6A8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8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C8BC7-417C-E9FA-2F2B-C98C4A15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C5A2D-9184-9C32-E0A8-6C3EF598D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53545-2772-6CEE-E15B-3391145C1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FA52A-548C-40A5-81F0-BF9A7AA72EE5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D6017-BF67-48C6-9F76-B2DAEC1A3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C661A-20C5-D3DD-BB6C-145CED867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2E5FA-759C-487C-BCB6-A980DBA77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05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ocity.com/spdt-miniature-limit-switch-with-roller-lever-2-pack/" TargetMode="External"/><Relationship Id="rId2" Type="http://schemas.openxmlformats.org/officeDocument/2006/relationships/hyperlink" Target="https://images-na.ssl-images-amazon.com/images/I/D1oC-c3G5TS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dcmotors.com/product/42mm-12v-18v-24v-ball-bearing-775-performance-motor-used-for-robotics-quadcopter-industrials?com_cvv=8fb3d522dc163aeadb66e08cd7450cbbdddc64c6cf2e8891f6d48747c6d56d2c" TargetMode="External"/><Relationship Id="rId2" Type="http://schemas.openxmlformats.org/officeDocument/2006/relationships/hyperlink" Target="https://www.amazon.com/AUTOTOOLHOME-Torque-Traxxas-Wheels-Electric/dp/B01M58POHF?crid=38SA7NJE0EN4Y&amp;dib=eyJ2IjoiMSJ9.OdZrAsegrmFWi3b7ccvCLKbtwjyEvABuWSirDBIE0FinjYZx8QLSBLBhMwsKduTQN3lVmliUGTPZCOKN3Q-1k1-jABBFnxSgMTN0F43Z8Ast60jHwY8TvQ8PgrONMMkdBowcaTQ_dpX6kpMQmeg_-bogXNcMj5s-e_id_kUxCKeLsV1e-jdQwZSNyYE9O2B0keifB47LXyQhsuoRgWwjWCWylK3D_9DGF0NaFQ0zy7cBHIasHYcTxcGGiXSrkauhlNZKjFjuKfFiYX5v14SFHX0TfFHVzOUVMzR60Df9kLw.ZtAdHNwk0X49cbHw9TunCwQb-YjwcOkXP8uXcXsp67s&amp;dib_tag=se&amp;keywords=dc+motor&amp;qid=1767707042&amp;s=industrial&amp;sprefix=dc+moto%2Cindustrial%2C175&amp;sr=1-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mages-na.ssl-images-amazon.com/images/I/D1oC-c3G5TS.pdf" TargetMode="External"/><Relationship Id="rId4" Type="http://schemas.openxmlformats.org/officeDocument/2006/relationships/hyperlink" Target="https://speedyfpv.com/products/mg90d-metal-digital-servo-new?variant=45194443030742&amp;country=US&amp;currency=USD&amp;utm_medium=product_sync&amp;utm_source=google&amp;utm_content=sag_organic&amp;utm_campaign=sag_organic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unfounder.com/products/12-voltage-2a-24w-switching-power-supply-ac-110v-to-12-volt-power-supply-for-led-strip-light-with-5-5-2-1mm-dc-female-barrel-connector" TargetMode="External"/><Relationship Id="rId4" Type="http://schemas.openxmlformats.org/officeDocument/2006/relationships/hyperlink" Target="https://www.amazon.com/BOJACK-16-pin-Stepper-Drivers-Controllers/dp/B09NBQVYLL?dib=eyJ2IjoiMSJ9.ypgiMPr-VKlehiP5grMA9zgr8_2cwBmy5bTEqCK6OIbDtAxwEpdA8iET7sQOAAE6Nulev2ex5jEOqrABrWZnlBGJjsCsGTSbMz_j1ioJu4SDOZX7t4ayCBcmy6xZ7-P_5A5ARF4PGCwa_eUdqXRhlFcIHxMHEm698QjPWtMH5jYfIsCE4Mc0LBDVyNveYyCoJ-Dtv12X0mSUUYy0ZcW89SHC40sNzXyvFECyi5qjDiA.XdOu4iRB85zfDZCGr0Hs90X9fnAgqcsiT1NjNmaL0zI&amp;dib_tag=se&amp;keywords=l293d+motor+driver&amp;qid=1765460390&amp;sr=8-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4A70-5127-8555-F3D7-0A1AF9E09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5273"/>
            <a:ext cx="9144000" cy="3827454"/>
          </a:xfrm>
        </p:spPr>
        <p:txBody>
          <a:bodyPr>
            <a:normAutofit/>
          </a:bodyPr>
          <a:lstStyle/>
          <a:p>
            <a:r>
              <a:rPr lang="en-US" sz="4800" b="1"/>
              <a:t>ME230: Project Pitch Presentation</a:t>
            </a:r>
            <a:br>
              <a:rPr lang="en-US" sz="4800"/>
            </a:br>
            <a:br>
              <a:rPr lang="en-US" sz="4800">
                <a:highlight>
                  <a:srgbClr val="00FF00"/>
                </a:highlight>
              </a:rPr>
            </a:br>
            <a:r>
              <a:rPr lang="en-US" sz="4800"/>
              <a:t>Claw Machine</a:t>
            </a:r>
            <a:br>
              <a:rPr lang="en-US" sz="4800" i="1"/>
            </a:br>
            <a:br>
              <a:rPr lang="en-US" sz="4800" i="1"/>
            </a:br>
            <a:r>
              <a:rPr lang="en-US" sz="3100" b="1"/>
              <a:t>Team: </a:t>
            </a:r>
            <a:r>
              <a:rPr lang="en-US" sz="3100"/>
              <a:t>Denis Fulks, Gabe Rapp</a:t>
            </a:r>
            <a:endParaRPr lang="en-US" sz="4800" i="1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883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B7A0-2E0E-EDC3-CC7C-91A4C4B1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855EC6-9020-FA87-B49B-738246740EF5}"/>
              </a:ext>
            </a:extLst>
          </p:cNvPr>
          <p:cNvCxnSpPr>
            <a:cxnSpLocks/>
          </p:cNvCxnSpPr>
          <p:nvPr/>
        </p:nvCxnSpPr>
        <p:spPr>
          <a:xfrm>
            <a:off x="8265374" y="3979367"/>
            <a:ext cx="1875140" cy="261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9B21784-94E5-E227-1BA0-42DAC6FA617A}"/>
              </a:ext>
            </a:extLst>
          </p:cNvPr>
          <p:cNvCxnSpPr>
            <a:cxnSpLocks/>
          </p:cNvCxnSpPr>
          <p:nvPr/>
        </p:nvCxnSpPr>
        <p:spPr>
          <a:xfrm>
            <a:off x="9528471" y="2552714"/>
            <a:ext cx="620044" cy="7978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816754-B39A-F17A-81D1-CDE52A8483EF}"/>
              </a:ext>
            </a:extLst>
          </p:cNvPr>
          <p:cNvCxnSpPr>
            <a:cxnSpLocks/>
          </p:cNvCxnSpPr>
          <p:nvPr/>
        </p:nvCxnSpPr>
        <p:spPr>
          <a:xfrm flipH="1">
            <a:off x="8120813" y="2503566"/>
            <a:ext cx="754371" cy="9546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 descr="A red and silver claw game&#10;&#10;AI-generated content may be incorrect.">
            <a:extLst>
              <a:ext uri="{FF2B5EF4-FFF2-40B4-BE49-F238E27FC236}">
                <a16:creationId xmlns:a16="http://schemas.microsoft.com/office/drawing/2014/main" id="{76A62BB2-AE8A-E82E-93F7-7D1250639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866"/>
            <a:ext cx="4587415" cy="5616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EAA948-398C-44FB-1D13-99B9A6B21EEE}"/>
              </a:ext>
            </a:extLst>
          </p:cNvPr>
          <p:cNvSpPr txBox="1"/>
          <p:nvPr/>
        </p:nvSpPr>
        <p:spPr>
          <a:xfrm>
            <a:off x="4517806" y="187640"/>
            <a:ext cx="7206014" cy="78483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latin typeface="Amasis MT Pro Black" panose="02040A04050005020304" pitchFamily="18" charset="0"/>
                <a:cs typeface="Times New Roman" panose="02020603050405020304" pitchFamily="18" charset="0"/>
              </a:rPr>
              <a:t>The Mini Claw Machine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38EB0A-0BFD-5F3F-FB81-FD7B26F26B8C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810933" y="2057400"/>
            <a:ext cx="1855493" cy="50970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AD4444-EA4D-9809-FC03-859342130A72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429000" y="4286290"/>
            <a:ext cx="1435590" cy="30329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28A41B-D7F7-5BFD-B878-A3F74834583F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478066" y="3613666"/>
            <a:ext cx="2051539" cy="11245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F0201F-57D6-A3ED-2CB2-8B5AF40F784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478066" y="1602072"/>
            <a:ext cx="2386524" cy="2840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39690E9-8FA3-1144-1396-82BD85745C49}"/>
              </a:ext>
            </a:extLst>
          </p:cNvPr>
          <p:cNvSpPr txBox="1"/>
          <p:nvPr/>
        </p:nvSpPr>
        <p:spPr>
          <a:xfrm>
            <a:off x="4864590" y="1701456"/>
            <a:ext cx="19283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 Black" panose="020F0502020204030204" pitchFamily="18" charset="0"/>
              </a:rPr>
              <a:t>Gantry System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7E4E31-A0EC-B465-CFC7-FB0B63A0C58F}"/>
              </a:ext>
            </a:extLst>
          </p:cNvPr>
          <p:cNvSpPr txBox="1"/>
          <p:nvPr/>
        </p:nvSpPr>
        <p:spPr>
          <a:xfrm>
            <a:off x="4666426" y="2382439"/>
            <a:ext cx="77617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 Black" panose="020F0502020204030204" pitchFamily="18" charset="0"/>
              </a:rPr>
              <a:t>Claw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51AA7-6FB6-84C6-603E-0FDE1C4922A7}"/>
              </a:ext>
            </a:extLst>
          </p:cNvPr>
          <p:cNvSpPr txBox="1"/>
          <p:nvPr/>
        </p:nvSpPr>
        <p:spPr>
          <a:xfrm>
            <a:off x="4529605" y="3429000"/>
            <a:ext cx="12426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 Black" panose="020F0502020204030204" pitchFamily="18" charset="0"/>
              </a:rPr>
              <a:t>Coin Slot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750D6D-2C96-86CA-B826-77BD569E6186}"/>
              </a:ext>
            </a:extLst>
          </p:cNvPr>
          <p:cNvSpPr txBox="1"/>
          <p:nvPr/>
        </p:nvSpPr>
        <p:spPr>
          <a:xfrm>
            <a:off x="4864590" y="4101624"/>
            <a:ext cx="11560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 Black" panose="020F0502020204030204" pitchFamily="18" charset="0"/>
              </a:rPr>
              <a:t>Joystick</a:t>
            </a: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CF182E98-3E86-E538-C7C3-A71F1A1EB08E}"/>
              </a:ext>
            </a:extLst>
          </p:cNvPr>
          <p:cNvSpPr/>
          <p:nvPr/>
        </p:nvSpPr>
        <p:spPr>
          <a:xfrm>
            <a:off x="8221897" y="1094742"/>
            <a:ext cx="1928347" cy="179022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BDBE87-D1E5-03BB-2E90-4F3165C721E8}"/>
              </a:ext>
            </a:extLst>
          </p:cNvPr>
          <p:cNvSpPr txBox="1"/>
          <p:nvPr/>
        </p:nvSpPr>
        <p:spPr>
          <a:xfrm>
            <a:off x="8843668" y="1912052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Amasis MT Pro Black" panose="020F0502020204030204" pitchFamily="18" charset="0"/>
              </a:rPr>
              <a:t>FUN</a:t>
            </a:r>
          </a:p>
        </p:txBody>
      </p:sp>
      <p:sp>
        <p:nvSpPr>
          <p:cNvPr id="23" name="Speech Bubble: Oval 22">
            <a:extLst>
              <a:ext uri="{FF2B5EF4-FFF2-40B4-BE49-F238E27FC236}">
                <a16:creationId xmlns:a16="http://schemas.microsoft.com/office/drawing/2014/main" id="{1B872223-B5DA-C6EF-5B49-A9B795C51A7F}"/>
              </a:ext>
            </a:extLst>
          </p:cNvPr>
          <p:cNvSpPr/>
          <p:nvPr/>
        </p:nvSpPr>
        <p:spPr>
          <a:xfrm>
            <a:off x="9655658" y="3211262"/>
            <a:ext cx="1928347" cy="1325891"/>
          </a:xfrm>
          <a:prstGeom prst="wedgeEllipseCallou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B426F4-5139-D449-3736-F1E16FB07EA1}"/>
              </a:ext>
            </a:extLst>
          </p:cNvPr>
          <p:cNvSpPr txBox="1"/>
          <p:nvPr/>
        </p:nvSpPr>
        <p:spPr>
          <a:xfrm>
            <a:off x="9714999" y="3551041"/>
            <a:ext cx="180966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masis MT Pro Black" panose="020F0502020204030204" pitchFamily="18" charset="0"/>
              </a:rPr>
              <a:t>Conversation</a:t>
            </a:r>
          </a:p>
          <a:p>
            <a:pPr algn="ctr"/>
            <a:r>
              <a:rPr lang="en-US" dirty="0">
                <a:latin typeface="Amasis MT Pro Black" panose="020F0502020204030204" pitchFamily="18" charset="0"/>
              </a:rPr>
              <a:t>Starter</a:t>
            </a:r>
          </a:p>
        </p:txBody>
      </p:sp>
      <p:sp>
        <p:nvSpPr>
          <p:cNvPr id="25" name="Cube 24">
            <a:extLst>
              <a:ext uri="{FF2B5EF4-FFF2-40B4-BE49-F238E27FC236}">
                <a16:creationId xmlns:a16="http://schemas.microsoft.com/office/drawing/2014/main" id="{0482C12A-F916-CC46-F3B9-2B4EF77F0C57}"/>
              </a:ext>
            </a:extLst>
          </p:cNvPr>
          <p:cNvSpPr/>
          <p:nvPr/>
        </p:nvSpPr>
        <p:spPr>
          <a:xfrm>
            <a:off x="7193211" y="3217515"/>
            <a:ext cx="1526345" cy="1549809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256D91-6460-EFFC-8479-53CFCA999F12}"/>
              </a:ext>
            </a:extLst>
          </p:cNvPr>
          <p:cNvSpPr txBox="1"/>
          <p:nvPr/>
        </p:nvSpPr>
        <p:spPr>
          <a:xfrm>
            <a:off x="7287780" y="3813274"/>
            <a:ext cx="941283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masis MT Pro Black" panose="020F0502020204030204" pitchFamily="18" charset="0"/>
              </a:rPr>
              <a:t>Easily</a:t>
            </a:r>
          </a:p>
          <a:p>
            <a:pPr algn="ctr"/>
            <a:r>
              <a:rPr lang="en-US" dirty="0">
                <a:latin typeface="Amasis MT Pro Black" panose="020F0502020204030204" pitchFamily="18" charset="0"/>
              </a:rPr>
              <a:t>Stored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60A2836-FB1B-6F61-28C2-FFD49148A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1202" y="5156544"/>
            <a:ext cx="1442101" cy="1442101"/>
          </a:xfrm>
          <a:prstGeom prst="rect">
            <a:avLst/>
          </a:prstGeom>
        </p:spPr>
      </p:pic>
      <p:sp>
        <p:nvSpPr>
          <p:cNvPr id="43" name="Arrow: Right 42">
            <a:extLst>
              <a:ext uri="{FF2B5EF4-FFF2-40B4-BE49-F238E27FC236}">
                <a16:creationId xmlns:a16="http://schemas.microsoft.com/office/drawing/2014/main" id="{30700F82-D7B8-3241-DD2E-48FB82A27928}"/>
              </a:ext>
            </a:extLst>
          </p:cNvPr>
          <p:cNvSpPr/>
          <p:nvPr/>
        </p:nvSpPr>
        <p:spPr>
          <a:xfrm>
            <a:off x="6722980" y="5765801"/>
            <a:ext cx="470231" cy="21938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A black round object with a black circle&#10;&#10;AI-generated content may be incorrect.">
            <a:extLst>
              <a:ext uri="{FF2B5EF4-FFF2-40B4-BE49-F238E27FC236}">
                <a16:creationId xmlns:a16="http://schemas.microsoft.com/office/drawing/2014/main" id="{1A5A8B1F-7306-08CC-D809-967F3ED997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334" r="2927"/>
          <a:stretch>
            <a:fillRect/>
          </a:stretch>
        </p:blipFill>
        <p:spPr>
          <a:xfrm>
            <a:off x="7504274" y="5183158"/>
            <a:ext cx="1851528" cy="1390088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97C8F61F-31DD-1D7F-3F30-EA10225C25CA}"/>
              </a:ext>
            </a:extLst>
          </p:cNvPr>
          <p:cNvSpPr/>
          <p:nvPr/>
        </p:nvSpPr>
        <p:spPr>
          <a:xfrm>
            <a:off x="9558453" y="5765801"/>
            <a:ext cx="470231" cy="219388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694E457-C986-DD33-9DC8-90A4F2493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1335" y="5059558"/>
            <a:ext cx="1492485" cy="163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8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and black device on a square frame&#10;&#10;AI-generated content may be incorrect.">
            <a:extLst>
              <a:ext uri="{FF2B5EF4-FFF2-40B4-BE49-F238E27FC236}">
                <a16:creationId xmlns:a16="http://schemas.microsoft.com/office/drawing/2014/main" id="{436853FB-EC2C-5C13-AE94-B897ABE2B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042" y="661841"/>
            <a:ext cx="4309791" cy="2345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CB19DD-E732-88C1-EA0F-E97E1A113B37}"/>
              </a:ext>
            </a:extLst>
          </p:cNvPr>
          <p:cNvSpPr txBox="1"/>
          <p:nvPr/>
        </p:nvSpPr>
        <p:spPr>
          <a:xfrm>
            <a:off x="4741162" y="3230679"/>
            <a:ext cx="39456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masis MT Pro Black" panose="02040A04050005020304" pitchFamily="18" charset="0"/>
              </a:rPr>
              <a:t>Proposed: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 Black" panose="02040A04050005020304" pitchFamily="18" charset="0"/>
              </a:rPr>
              <a:t>80-20 Gantry Frame (above)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 Black" panose="02040A04050005020304" pitchFamily="18" charset="0"/>
              </a:rPr>
              <a:t>2ft x 2ft (may go smaller)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 Black" panose="02040A04050005020304" pitchFamily="18" charset="0"/>
              </a:rPr>
              <a:t>Claw (right)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 Black" panose="02040A04050005020304" pitchFamily="18" charset="0"/>
              </a:rPr>
              <a:t>Wooden Frame w/ finish (left)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 Black" panose="02040A04050005020304" pitchFamily="18" charset="0"/>
              </a:rPr>
              <a:t>Various 3d printed parts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Amasis MT Pro Black" panose="02040A04050005020304" pitchFamily="18" charset="0"/>
              </a:rPr>
              <a:t>Need a decent and cheap material for the clear walls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406D79-1B14-40A9-A278-97155B63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9BA4CE-2FDB-F94B-FA2C-6E356CDCF35F}"/>
              </a:ext>
            </a:extLst>
          </p:cNvPr>
          <p:cNvSpPr txBox="1"/>
          <p:nvPr/>
        </p:nvSpPr>
        <p:spPr>
          <a:xfrm>
            <a:off x="7221938" y="60742"/>
            <a:ext cx="230511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Amasis MT Pro Black" panose="02040A04050005020304" pitchFamily="18" charset="0"/>
              </a:rPr>
              <a:t>Construction</a:t>
            </a:r>
          </a:p>
        </p:txBody>
      </p:sp>
      <p:pic>
        <p:nvPicPr>
          <p:cNvPr id="3" name="Picture 2" descr="A grey metal tripod with three legs&#10;&#10;AI-generated content may be incorrect.">
            <a:extLst>
              <a:ext uri="{FF2B5EF4-FFF2-40B4-BE49-F238E27FC236}">
                <a16:creationId xmlns:a16="http://schemas.microsoft.com/office/drawing/2014/main" id="{9D1B945D-7A52-DD50-9E95-66B6A170F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189" y="2645883"/>
            <a:ext cx="3480586" cy="375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43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7A4E-D39A-D310-F191-F4C974F2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70899B-F3A5-041D-3144-061A56C56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220629"/>
              </p:ext>
            </p:extLst>
          </p:nvPr>
        </p:nvGraphicFramePr>
        <p:xfrm>
          <a:off x="618826" y="1706880"/>
          <a:ext cx="10954347" cy="435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6137">
                  <a:extLst>
                    <a:ext uri="{9D8B030D-6E8A-4147-A177-3AD203B41FA5}">
                      <a16:colId xmlns:a16="http://schemas.microsoft.com/office/drawing/2014/main" val="977464305"/>
                    </a:ext>
                  </a:extLst>
                </a:gridCol>
                <a:gridCol w="2332653">
                  <a:extLst>
                    <a:ext uri="{9D8B030D-6E8A-4147-A177-3AD203B41FA5}">
                      <a16:colId xmlns:a16="http://schemas.microsoft.com/office/drawing/2014/main" val="1935077333"/>
                    </a:ext>
                  </a:extLst>
                </a:gridCol>
                <a:gridCol w="5685557">
                  <a:extLst>
                    <a:ext uri="{9D8B030D-6E8A-4147-A177-3AD203B41FA5}">
                      <a16:colId xmlns:a16="http://schemas.microsoft.com/office/drawing/2014/main" val="139944166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Sensor Name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Signal Type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What will it measure? </a:t>
                      </a:r>
                    </a:p>
                    <a:p>
                      <a:pPr algn="ctr"/>
                      <a:r>
                        <a:rPr lang="en-US" sz="2000" b="1"/>
                        <a:t>What event(s) will it detect?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39593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hlinkClick r:id="rId2"/>
                        </a:rPr>
                        <a:t>Button</a:t>
                      </a:r>
                      <a:endParaRPr 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Digital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i="0"/>
                        <a:t>The sensor will get a touch input to drop the crane and run the pickup sequence. (Would like to find a bigger one)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601144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/>
                        </a:rPr>
                        <a:t>2-axis Joystick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Analog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sensor will read an x/y directional input and move the claw in that direction at a constant speed. (Would need to make a custom grip)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553775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3"/>
                        </a:rPr>
                        <a:t>Limit Switch</a:t>
                      </a:r>
                      <a:r>
                        <a:rPr lang="en-US" dirty="0"/>
                        <a:t> x4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Digital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The sensor will detect the bounds of the gantry, so it doesn’t attempt to move to an out-of-bounds region. It will also help with the homing.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198406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hlinkClick r:id="rId2"/>
                        </a:rPr>
                        <a:t>Photoresistor</a:t>
                      </a:r>
                      <a:r>
                        <a:rPr lang="en-US"/>
                        <a:t>/</a:t>
                      </a:r>
                      <a:r>
                        <a:rPr lang="en-US">
                          <a:hlinkClick r:id="rId2"/>
                        </a:rPr>
                        <a:t>LED</a:t>
                      </a:r>
                      <a:endParaRPr 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Analog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Sense a coin in the coin slot.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94035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0D5A88-9E37-A7A2-54BA-C45EF8B52899}"/>
              </a:ext>
            </a:extLst>
          </p:cNvPr>
          <p:cNvSpPr txBox="1"/>
          <p:nvPr/>
        </p:nvSpPr>
        <p:spPr>
          <a:xfrm>
            <a:off x="4321314" y="130760"/>
            <a:ext cx="28023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Amasis MT Pro Black" panose="02040A04050005020304" pitchFamily="18" charset="0"/>
                <a:cs typeface="Times New Roman" panose="02020603050405020304" pitchFamily="18" charset="0"/>
              </a:rPr>
              <a:t>Inputs</a:t>
            </a:r>
          </a:p>
        </p:txBody>
      </p:sp>
    </p:spTree>
    <p:extLst>
      <p:ext uri="{BB962C8B-B14F-4D97-AF65-F5344CB8AC3E}">
        <p14:creationId xmlns:p14="http://schemas.microsoft.com/office/powerpoint/2010/main" val="391599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61D3-30FA-E8EC-D598-3E3E92459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D2C983-C61D-B95D-82D8-D8000066D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40552"/>
              </p:ext>
            </p:extLst>
          </p:nvPr>
        </p:nvGraphicFramePr>
        <p:xfrm>
          <a:off x="467483" y="1842093"/>
          <a:ext cx="11257032" cy="3681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4865">
                  <a:extLst>
                    <a:ext uri="{9D8B030D-6E8A-4147-A177-3AD203B41FA5}">
                      <a16:colId xmlns:a16="http://schemas.microsoft.com/office/drawing/2014/main" val="977464305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1935077333"/>
                    </a:ext>
                  </a:extLst>
                </a:gridCol>
                <a:gridCol w="6248151">
                  <a:extLst>
                    <a:ext uri="{9D8B030D-6E8A-4147-A177-3AD203B41FA5}">
                      <a16:colId xmlns:a16="http://schemas.microsoft.com/office/drawing/2014/main" val="1399441666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Output Name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Power Requirements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How will you modulate this output?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395935"/>
                  </a:ext>
                </a:extLst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2"/>
                        </a:rPr>
                        <a:t>DC Motor</a:t>
                      </a:r>
                      <a:r>
                        <a:rPr lang="en-US" dirty="0"/>
                        <a:t> x3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Supply Voltage: 12V</a:t>
                      </a:r>
                    </a:p>
                    <a:p>
                      <a:pPr algn="ctr"/>
                      <a:r>
                        <a:rPr lang="en-US" dirty="0"/>
                        <a:t>Max. Current: 55mA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i="0"/>
                        <a:t>Will be used to drive the gantry x/y and crane drop. (May need something larger like </a:t>
                      </a:r>
                      <a:r>
                        <a:rPr lang="en-US" i="0">
                          <a:hlinkClick r:id="rId3"/>
                        </a:rPr>
                        <a:t>this</a:t>
                      </a:r>
                      <a:r>
                        <a:rPr lang="en-US" i="0"/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6011446"/>
                  </a:ext>
                </a:extLst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4"/>
                        </a:rPr>
                        <a:t>Servo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Supply Voltage: 6V</a:t>
                      </a:r>
                    </a:p>
                    <a:p>
                      <a:pPr algn="ctr"/>
                      <a:r>
                        <a:rPr lang="en-US"/>
                        <a:t>Max. Current: 90mA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i="0"/>
                        <a:t>Will be used to actuate the claw.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07091405"/>
                  </a:ext>
                </a:extLst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/>
                        </a:rPr>
                        <a:t>LCD Display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Supply Voltage: 5V</a:t>
                      </a:r>
                    </a:p>
                    <a:p>
                      <a:pPr algn="ctr"/>
                      <a:r>
                        <a:rPr lang="en-US"/>
                        <a:t>Max. Current: 1.5mA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i="0"/>
                        <a:t>Display messages to the user.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5140180"/>
                  </a:ext>
                </a:extLst>
              </a:tr>
              <a:tr h="7452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linkClick r:id="rId5"/>
                        </a:rPr>
                        <a:t>7-Segment Clock</a:t>
                      </a:r>
                      <a:endParaRPr lang="en-US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Supply Voltage: 5V</a:t>
                      </a:r>
                    </a:p>
                    <a:p>
                      <a:pPr algn="ctr"/>
                      <a:r>
                        <a:rPr lang="en-US" dirty="0"/>
                        <a:t>Max. Current: 1.5mA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i="0" dirty="0"/>
                        <a:t>Display timer to the user.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991279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5549853-DA75-839E-25F0-B45F3B86ACFB}"/>
              </a:ext>
            </a:extLst>
          </p:cNvPr>
          <p:cNvSpPr txBox="1"/>
          <p:nvPr/>
        </p:nvSpPr>
        <p:spPr>
          <a:xfrm>
            <a:off x="3904533" y="177800"/>
            <a:ext cx="356700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Amasis MT Pro Black" panose="02040A04050005020304" pitchFamily="18" charset="0"/>
                <a:cs typeface="Times New Roman" panose="02020603050405020304" pitchFamily="18" charset="0"/>
              </a:rPr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4127594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ower adapter&#10;&#10;AI-generated content may be incorrect.">
            <a:extLst>
              <a:ext uri="{FF2B5EF4-FFF2-40B4-BE49-F238E27FC236}">
                <a16:creationId xmlns:a16="http://schemas.microsoft.com/office/drawing/2014/main" id="{E3E90B0E-ABBC-BBB3-DD62-90BE7809A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534" y="1964267"/>
            <a:ext cx="4631265" cy="4631265"/>
          </a:xfrm>
          <a:prstGeom prst="rect">
            <a:avLst/>
          </a:prstGeom>
        </p:spPr>
      </p:pic>
      <p:pic>
        <p:nvPicPr>
          <p:cNvPr id="6" name="Picture 5" descr="A close-up of a microchip">
            <a:extLst>
              <a:ext uri="{FF2B5EF4-FFF2-40B4-BE49-F238E27FC236}">
                <a16:creationId xmlns:a16="http://schemas.microsoft.com/office/drawing/2014/main" id="{F0C5755E-2E84-1A56-9994-4FB34652A3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69" b="2141"/>
          <a:stretch>
            <a:fillRect/>
          </a:stretch>
        </p:blipFill>
        <p:spPr>
          <a:xfrm>
            <a:off x="655487" y="2578099"/>
            <a:ext cx="2613887" cy="1701800"/>
          </a:xfrm>
          <a:prstGeom prst="rect">
            <a:avLst/>
          </a:prstGeom>
        </p:spPr>
      </p:pic>
      <p:pic>
        <p:nvPicPr>
          <p:cNvPr id="7" name="Picture 6" descr="A close-up of a microchip">
            <a:extLst>
              <a:ext uri="{FF2B5EF4-FFF2-40B4-BE49-F238E27FC236}">
                <a16:creationId xmlns:a16="http://schemas.microsoft.com/office/drawing/2014/main" id="{C300B663-E24A-BEF0-D5E4-92FF26EEF7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969" b="2141"/>
          <a:stretch>
            <a:fillRect/>
          </a:stretch>
        </p:blipFill>
        <p:spPr>
          <a:xfrm>
            <a:off x="2635448" y="3915834"/>
            <a:ext cx="2613887" cy="1701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350079-3029-1701-68A0-F8D9E8993D05}"/>
              </a:ext>
            </a:extLst>
          </p:cNvPr>
          <p:cNvSpPr txBox="1"/>
          <p:nvPr/>
        </p:nvSpPr>
        <p:spPr>
          <a:xfrm>
            <a:off x="753535" y="617116"/>
            <a:ext cx="4709944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Amasis MT Pro Black" panose="02040A04050005020304" pitchFamily="18" charset="0"/>
              </a:rPr>
              <a:t>2 </a:t>
            </a:r>
            <a:r>
              <a:rPr lang="en-US" sz="2500" dirty="0">
                <a:latin typeface="Amasis MT Pro Black" panose="02040A04050005020304" pitchFamily="18" charset="0"/>
                <a:hlinkClick r:id="rId4"/>
              </a:rPr>
              <a:t>H-bridge motor drivers</a:t>
            </a:r>
            <a:endParaRPr lang="en-US" sz="2500" dirty="0">
              <a:latin typeface="Amasis MT Pro Black" panose="02040A040500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500" dirty="0">
                <a:latin typeface="Amasis MT Pro Black" panose="02040A04050005020304" pitchFamily="18" charset="0"/>
              </a:rPr>
              <a:t>Actuate the motors</a:t>
            </a:r>
          </a:p>
          <a:p>
            <a:pPr marL="285750" indent="-285750">
              <a:buFontTx/>
              <a:buChar char="-"/>
            </a:pPr>
            <a:r>
              <a:rPr lang="en-US" sz="2500" dirty="0">
                <a:latin typeface="Amasis MT Pro Black" panose="02040A04050005020304" pitchFamily="18" charset="0"/>
              </a:rPr>
              <a:t>Allow for bi-directionality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6D6C7-105B-C1AF-0AF4-9C15E7567DF0}"/>
              </a:ext>
            </a:extLst>
          </p:cNvPr>
          <p:cNvSpPr txBox="1"/>
          <p:nvPr/>
        </p:nvSpPr>
        <p:spPr>
          <a:xfrm>
            <a:off x="7179681" y="607707"/>
            <a:ext cx="4097917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Amasis MT Pro Black" panose="02040A04050005020304" pitchFamily="18" charset="0"/>
                <a:hlinkClick r:id="rId5"/>
              </a:rPr>
              <a:t>12V Power Supply</a:t>
            </a:r>
            <a:endParaRPr lang="en-US" sz="2500" dirty="0">
              <a:latin typeface="Amasis MT Pro Black" panose="02040A040500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en-US" sz="2500" dirty="0">
                <a:latin typeface="Amasis MT Pro Black" panose="02040A04050005020304" pitchFamily="18" charset="0"/>
              </a:rPr>
              <a:t>Power the motors</a:t>
            </a:r>
          </a:p>
          <a:p>
            <a:pPr marL="342900" indent="-342900">
              <a:buFontTx/>
              <a:buChar char="-"/>
            </a:pPr>
            <a:r>
              <a:rPr lang="en-US" sz="2500" dirty="0">
                <a:latin typeface="Amasis MT Pro Black" panose="02040A04050005020304" pitchFamily="18" charset="0"/>
              </a:rPr>
              <a:t>Power the peripherals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EF4119-105D-299F-A052-F6104746268B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02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9754-E9B2-EE81-90C2-3FDEBF780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B05285E-3AF2-298B-13E2-13EF5DCF9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26" y="1496441"/>
            <a:ext cx="3370291" cy="3608030"/>
          </a:xfrm>
          <a:prstGeom prst="rect">
            <a:avLst/>
          </a:prstGeom>
        </p:spPr>
      </p:pic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06AE5D3-DA7D-6E07-559F-CDEBDF71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875" y="2027754"/>
            <a:ext cx="4072647" cy="2545404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934472A-7C52-B6A7-B0AF-1F9CA2EE3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380" y="742589"/>
            <a:ext cx="3482624" cy="53728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1D25D1-3E9C-9B31-24D3-1481C8FD6D9D}"/>
              </a:ext>
            </a:extLst>
          </p:cNvPr>
          <p:cNvSpPr txBox="1"/>
          <p:nvPr/>
        </p:nvSpPr>
        <p:spPr>
          <a:xfrm>
            <a:off x="4388959" y="311702"/>
            <a:ext cx="324447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Amasis MT Pro Black" panose="02040A04050005020304" pitchFamily="18" charset="0"/>
              </a:rPr>
              <a:t>The Code</a:t>
            </a:r>
          </a:p>
        </p:txBody>
      </p:sp>
    </p:spTree>
    <p:extLst>
      <p:ext uri="{BB962C8B-B14F-4D97-AF65-F5344CB8AC3E}">
        <p14:creationId xmlns:p14="http://schemas.microsoft.com/office/powerpoint/2010/main" val="317130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628B-0C45-7293-C5C3-22945C16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display&#10;&#10;AI-generated content may be incorrect.">
            <a:extLst>
              <a:ext uri="{FF2B5EF4-FFF2-40B4-BE49-F238E27FC236}">
                <a16:creationId xmlns:a16="http://schemas.microsoft.com/office/drawing/2014/main" id="{E721E9FC-0B90-EC09-544B-C45B3C7701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12"/>
          <a:stretch>
            <a:fillRect/>
          </a:stretch>
        </p:blipFill>
        <p:spPr>
          <a:xfrm>
            <a:off x="212695" y="148046"/>
            <a:ext cx="4279564" cy="3255244"/>
          </a:xfrm>
          <a:prstGeom prst="rect">
            <a:avLst/>
          </a:prstGeom>
        </p:spPr>
      </p:pic>
      <p:pic>
        <p:nvPicPr>
          <p:cNvPr id="6" name="Picture 5" descr="A close-up of a computer&#10;&#10;AI-generated content may be incorrect.">
            <a:extLst>
              <a:ext uri="{FF2B5EF4-FFF2-40B4-BE49-F238E27FC236}">
                <a16:creationId xmlns:a16="http://schemas.microsoft.com/office/drawing/2014/main" id="{379B0150-1A81-4D67-AEFA-6D58831C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45" y="3429000"/>
            <a:ext cx="4060914" cy="3054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9BCD54-3A41-8007-BB8B-DEE2FE8258B9}"/>
              </a:ext>
            </a:extLst>
          </p:cNvPr>
          <p:cNvSpPr txBox="1"/>
          <p:nvPr/>
        </p:nvSpPr>
        <p:spPr>
          <a:xfrm>
            <a:off x="4744375" y="1267836"/>
            <a:ext cx="66116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masis MT Pro Black" panose="02040A04050005020304" pitchFamily="18" charset="0"/>
              </a:rPr>
              <a:t>Timer – Counts down until the claw automatically drops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871BC-CFC9-6FCF-3193-45EDEF2F2BC7}"/>
              </a:ext>
            </a:extLst>
          </p:cNvPr>
          <p:cNvSpPr txBox="1"/>
          <p:nvPr/>
        </p:nvSpPr>
        <p:spPr>
          <a:xfrm>
            <a:off x="4744375" y="3755902"/>
            <a:ext cx="661160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masis MT Pro Black" panose="02040A04050005020304" pitchFamily="18" charset="0"/>
              </a:rPr>
              <a:t>Display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masis MT Pro Black" panose="02040A04050005020304" pitchFamily="18" charset="0"/>
              </a:rPr>
              <a:t>Insert coin! (to begin playing)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masis MT Pro Black" panose="02040A04050005020304" pitchFamily="18" charset="0"/>
              </a:rPr>
              <a:t>Play! (time to move the claw)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masis MT Pro Black" panose="02040A04050005020304" pitchFamily="18" charset="0"/>
              </a:rPr>
              <a:t>Winner!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masis MT Pro Black" panose="02040A04050005020304" pitchFamily="18" charset="0"/>
              </a:rPr>
              <a:t>Loser!</a:t>
            </a:r>
          </a:p>
        </p:txBody>
      </p:sp>
    </p:spTree>
    <p:extLst>
      <p:ext uri="{BB962C8B-B14F-4D97-AF65-F5344CB8AC3E}">
        <p14:creationId xmlns:p14="http://schemas.microsoft.com/office/powerpoint/2010/main" val="30241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0F49CEDC2FA74580ABD66F32EAC6E9" ma:contentTypeVersion="16" ma:contentTypeDescription="Create a new document." ma:contentTypeScope="" ma:versionID="e1e8708934cc8108073e0e3ed3f4466e">
  <xsd:schema xmlns:xsd="http://www.w3.org/2001/XMLSchema" xmlns:xs="http://www.w3.org/2001/XMLSchema" xmlns:p="http://schemas.microsoft.com/office/2006/metadata/properties" xmlns:ns3="c86736cd-fc89-489a-8048-1da79057554a" xmlns:ns4="f173933d-411e-4513-8034-62853d7eed6f" targetNamespace="http://schemas.microsoft.com/office/2006/metadata/properties" ma:root="true" ma:fieldsID="3bf374177c127267818d74d80141d430" ns3:_="" ns4:_="">
    <xsd:import namespace="c86736cd-fc89-489a-8048-1da79057554a"/>
    <xsd:import namespace="f173933d-411e-4513-8034-62853d7eed6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SystemTag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6736cd-fc89-489a-8048-1da7905755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73933d-411e-4513-8034-62853d7eed6f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6736cd-fc89-489a-8048-1da79057554a" xsi:nil="true"/>
  </documentManagement>
</p:properties>
</file>

<file path=customXml/itemProps1.xml><?xml version="1.0" encoding="utf-8"?>
<ds:datastoreItem xmlns:ds="http://schemas.openxmlformats.org/officeDocument/2006/customXml" ds:itemID="{9C8C6934-7088-4125-9EF1-EA90B2B276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C1AB4A-CD49-4BC8-B587-69A18811C5EF}">
  <ds:schemaRefs>
    <ds:schemaRef ds:uri="c86736cd-fc89-489a-8048-1da79057554a"/>
    <ds:schemaRef ds:uri="f173933d-411e-4513-8034-62853d7eed6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0960896-A0A2-4AA2-B695-AB4010741E53}">
  <ds:schemaRefs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c86736cd-fc89-489a-8048-1da79057554a"/>
    <ds:schemaRef ds:uri="f173933d-411e-4513-8034-62853d7eed6f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354</Words>
  <Application>Microsoft Office PowerPoint</Application>
  <PresentationFormat>Widescreen</PresentationFormat>
  <Paragraphs>70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Amasis MT Pro Black</vt:lpstr>
      <vt:lpstr>Aptos</vt:lpstr>
      <vt:lpstr>Aptos Display</vt:lpstr>
      <vt:lpstr>Arial</vt:lpstr>
      <vt:lpstr>Office Theme</vt:lpstr>
      <vt:lpstr>ME230: Project Pitch Presentation  Claw Machine  Team: Denis Fulks, Gabe Rapp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Bercich, Rebecca</dc:creator>
  <cp:lastModifiedBy>Fulks, Denis</cp:lastModifiedBy>
  <cp:revision>2</cp:revision>
  <dcterms:created xsi:type="dcterms:W3CDTF">2025-08-27T19:52:01Z</dcterms:created>
  <dcterms:modified xsi:type="dcterms:W3CDTF">2026-01-06T14:46:47Z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0x0101002C0F49CEDC2FA74580ABD66F32EAC6E9</vt:lpwstr>
  </property>
</Properties>
</file>