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59" r:id="rId5"/>
    <p:sldId id="261" r:id="rId6"/>
    <p:sldId id="264"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p:cViewPr varScale="1">
        <p:scale>
          <a:sx n="101" d="100"/>
          <a:sy n="101"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Georges" userId="d6e960fa-7299-4711-843c-bdf15d2d1b70" providerId="ADAL" clId="{2B588150-453A-4358-A82D-0D382DC79E7C}"/>
    <pc:docChg chg="undo custSel addSld delSld modSld">
      <pc:chgData name="Adam, Georges" userId="d6e960fa-7299-4711-843c-bdf15d2d1b70" providerId="ADAL" clId="{2B588150-453A-4358-A82D-0D382DC79E7C}" dt="2025-09-17T12:43:40.693" v="252" actId="20577"/>
      <pc:docMkLst>
        <pc:docMk/>
      </pc:docMkLst>
      <pc:sldChg chg="modSp add del mod">
        <pc:chgData name="Adam, Georges" userId="d6e960fa-7299-4711-843c-bdf15d2d1b70" providerId="ADAL" clId="{2B588150-453A-4358-A82D-0D382DC79E7C}" dt="2025-09-17T12:43:40.693" v="252" actId="20577"/>
        <pc:sldMkLst>
          <pc:docMk/>
          <pc:sldMk cId="3171302601" sldId="262"/>
        </pc:sldMkLst>
        <pc:graphicFrameChg chg="modGraphic">
          <ac:chgData name="Adam, Georges" userId="d6e960fa-7299-4711-843c-bdf15d2d1b70" providerId="ADAL" clId="{2B588150-453A-4358-A82D-0D382DC79E7C}" dt="2025-09-17T12:43:40.693" v="252" actId="20577"/>
          <ac:graphicFrameMkLst>
            <pc:docMk/>
            <pc:sldMk cId="3171302601" sldId="262"/>
            <ac:graphicFrameMk id="4" creationId="{6A6D2A97-D0D9-D0FC-4C2F-9209EB7E97D9}"/>
          </ac:graphicFrameMkLst>
        </pc:graphicFrameChg>
      </pc:sldChg>
      <pc:sldChg chg="modSp mod">
        <pc:chgData name="Adam, Georges" userId="d6e960fa-7299-4711-843c-bdf15d2d1b70" providerId="ADAL" clId="{2B588150-453A-4358-A82D-0D382DC79E7C}" dt="2025-09-17T12:41:25.516" v="154" actId="20577"/>
        <pc:sldMkLst>
          <pc:docMk/>
          <pc:sldMk cId="1485080810" sldId="265"/>
        </pc:sldMkLst>
        <pc:graphicFrameChg chg="modGraphic">
          <ac:chgData name="Adam, Georges" userId="d6e960fa-7299-4711-843c-bdf15d2d1b70" providerId="ADAL" clId="{2B588150-453A-4358-A82D-0D382DC79E7C}" dt="2025-09-17T12:41:25.516" v="154" actId="20577"/>
          <ac:graphicFrameMkLst>
            <pc:docMk/>
            <pc:sldMk cId="1485080810" sldId="265"/>
            <ac:graphicFrameMk id="4" creationId="{249DDB95-6125-8AC8-344F-C0404BC44CF6}"/>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3A6AD-84B3-0C3C-BAF8-4D31EF4750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334B88-CF56-B2AD-0F09-6CAC890803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59691C-3342-DFE1-1CDC-CD6813118079}"/>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5" name="Footer Placeholder 4">
            <a:extLst>
              <a:ext uri="{FF2B5EF4-FFF2-40B4-BE49-F238E27FC236}">
                <a16:creationId xmlns:a16="http://schemas.microsoft.com/office/drawing/2014/main" id="{25A59220-3C68-6D90-F392-62D65A8BCF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1545C7-6ED2-F885-74BE-94136EFA8978}"/>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2538157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3094-C9E0-C7F2-8657-DAEC4C135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B03953-CAB3-4EA8-BEFF-FF6C736A3C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9FE02-1FF0-BD14-1A0C-9E41381D6C92}"/>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5" name="Footer Placeholder 4">
            <a:extLst>
              <a:ext uri="{FF2B5EF4-FFF2-40B4-BE49-F238E27FC236}">
                <a16:creationId xmlns:a16="http://schemas.microsoft.com/office/drawing/2014/main" id="{27BBE12F-4C4F-EDE9-0462-68A278FDF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DF0DF-DC94-96EE-1185-3BC21F86812C}"/>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335508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97ACD-9D57-E8C5-2863-C475C62F29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A4F9E2-626A-8B7C-5E98-78B2134EA2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1EA657-E955-629E-2CD5-5043EB75478F}"/>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5" name="Footer Placeholder 4">
            <a:extLst>
              <a:ext uri="{FF2B5EF4-FFF2-40B4-BE49-F238E27FC236}">
                <a16:creationId xmlns:a16="http://schemas.microsoft.com/office/drawing/2014/main" id="{82F9D6AC-2F9E-2F5B-7E8E-7532E6D155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DD48D-2064-39A2-FC55-B3AD148E7F19}"/>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1490889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89F2-A4D4-C305-0705-173941D53A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C90229-8F46-3F0D-1903-C2B99FCF4C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1980A6-E9C5-70FF-B078-3F0ACF1516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34F6FD-1662-B19C-2049-14BDDB606E65}"/>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6" name="Footer Placeholder 5">
            <a:extLst>
              <a:ext uri="{FF2B5EF4-FFF2-40B4-BE49-F238E27FC236}">
                <a16:creationId xmlns:a16="http://schemas.microsoft.com/office/drawing/2014/main" id="{E956DFD4-8A25-9529-1BB4-37188010F5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8104BF-839A-319E-1661-FA68334F2DE6}"/>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1643564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8BF7B-78A5-084B-C991-4D9A7F9C94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43C99B-F978-97D9-9511-78E1AF7E78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B70DAD-1B3B-C668-4734-495C6C41CE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1ED68B-E166-6D05-5A21-32841EAF89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B8526F-0F6D-C9F2-3AE3-DB715635D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437AEC-AB00-DAE6-730B-3F50CB0A8BCE}"/>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8" name="Footer Placeholder 7">
            <a:extLst>
              <a:ext uri="{FF2B5EF4-FFF2-40B4-BE49-F238E27FC236}">
                <a16:creationId xmlns:a16="http://schemas.microsoft.com/office/drawing/2014/main" id="{16D3DDA9-CC52-3B9E-835C-89C0EB0E46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1E8697-D30E-8C66-9927-420F745F5236}"/>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4116450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561B-9A67-AB58-FEDA-C552E3A889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269D84-3F0F-00A8-09E5-E75123A8BF46}"/>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4" name="Footer Placeholder 3">
            <a:extLst>
              <a:ext uri="{FF2B5EF4-FFF2-40B4-BE49-F238E27FC236}">
                <a16:creationId xmlns:a16="http://schemas.microsoft.com/office/drawing/2014/main" id="{D4170D60-E8F9-4A4B-63DC-BAACE84D8D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41BB9F-06AB-E81C-7F95-A4EA0EF6AFEE}"/>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3311239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D67BA0-9C93-C893-597A-236D42921BBC}"/>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3" name="Footer Placeholder 2">
            <a:extLst>
              <a:ext uri="{FF2B5EF4-FFF2-40B4-BE49-F238E27FC236}">
                <a16:creationId xmlns:a16="http://schemas.microsoft.com/office/drawing/2014/main" id="{E95C0A85-4008-86C2-8BBA-DEE4429C1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47461-DE09-9636-BA22-86E9387B22B8}"/>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3801276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FA4E-7D95-3890-2F00-E1117B175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6201C3-3129-C063-F502-D1F103A9DD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7332EB-E397-F8CA-D047-48C27FB22B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4C551B-F6F9-0728-DD6B-9BA3BB1B0FBB}"/>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6" name="Footer Placeholder 5">
            <a:extLst>
              <a:ext uri="{FF2B5EF4-FFF2-40B4-BE49-F238E27FC236}">
                <a16:creationId xmlns:a16="http://schemas.microsoft.com/office/drawing/2014/main" id="{A04013EA-077A-B2E8-F532-A9FC57377B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15932-F115-4636-ECB2-567ACB4E69E0}"/>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179716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8ED9-413B-B8B8-FD5B-A5B6B2AD3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52B35E-5508-6203-A270-4D9A97D742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66B6B2-73F3-4546-6D2D-BC940EE72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F22DC-20DF-3C35-D100-67CA87E97E4A}"/>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6" name="Footer Placeholder 5">
            <a:extLst>
              <a:ext uri="{FF2B5EF4-FFF2-40B4-BE49-F238E27FC236}">
                <a16:creationId xmlns:a16="http://schemas.microsoft.com/office/drawing/2014/main" id="{26741ECC-2775-6937-5EF0-D23BAB9CCE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E2C3A0-151A-BC0F-798C-FEAF70250EFF}"/>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3826525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5ABF-BF8B-26D9-185A-57C6916E74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64A3B-2716-5164-456D-008F4340EB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C776AD-BBC4-83F3-76F0-D9E0AC24FCF8}"/>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5" name="Footer Placeholder 4">
            <a:extLst>
              <a:ext uri="{FF2B5EF4-FFF2-40B4-BE49-F238E27FC236}">
                <a16:creationId xmlns:a16="http://schemas.microsoft.com/office/drawing/2014/main" id="{9CD70EC8-6DE5-C520-B192-B75E57081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A333E5-E33E-EAB9-E2DF-80BCB8BA9E8D}"/>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2524587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B504EC-038E-7884-470B-876C750A9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34E9DA-3F92-29CF-DCB8-40AD19A59D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2F1EE9-AA04-E959-52CC-28A21E00D424}"/>
              </a:ext>
            </a:extLst>
          </p:cNvPr>
          <p:cNvSpPr>
            <a:spLocks noGrp="1"/>
          </p:cNvSpPr>
          <p:nvPr>
            <p:ph type="dt" sz="half" idx="10"/>
          </p:nvPr>
        </p:nvSpPr>
        <p:spPr/>
        <p:txBody>
          <a:bodyPr/>
          <a:lstStyle/>
          <a:p>
            <a:fld id="{7FCFA52A-548C-40A5-81F0-BF9A7AA72EE5}" type="datetimeFigureOut">
              <a:rPr lang="en-US" smtClean="0"/>
              <a:t>9/17/2025</a:t>
            </a:fld>
            <a:endParaRPr lang="en-US"/>
          </a:p>
        </p:txBody>
      </p:sp>
      <p:sp>
        <p:nvSpPr>
          <p:cNvPr id="5" name="Footer Placeholder 4">
            <a:extLst>
              <a:ext uri="{FF2B5EF4-FFF2-40B4-BE49-F238E27FC236}">
                <a16:creationId xmlns:a16="http://schemas.microsoft.com/office/drawing/2014/main" id="{14B5CA24-A87C-B1D2-51C2-A0788F5BE1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C457FF-E1D7-8FA7-892F-313DE6A89999}"/>
              </a:ext>
            </a:extLst>
          </p:cNvPr>
          <p:cNvSpPr>
            <a:spLocks noGrp="1"/>
          </p:cNvSpPr>
          <p:nvPr>
            <p:ph type="sldNum" sz="quarter" idx="12"/>
          </p:nvPr>
        </p:nvSpPr>
        <p:spPr/>
        <p:txBody>
          <a:bodyPr/>
          <a:lstStyle/>
          <a:p>
            <a:fld id="{21B2E5FA-759C-487C-BCB6-A980DBA77FAE}" type="slidenum">
              <a:rPr lang="en-US" smtClean="0"/>
              <a:t>‹#›</a:t>
            </a:fld>
            <a:endParaRPr lang="en-US"/>
          </a:p>
        </p:txBody>
      </p:sp>
    </p:spTree>
    <p:extLst>
      <p:ext uri="{BB962C8B-B14F-4D97-AF65-F5344CB8AC3E}">
        <p14:creationId xmlns:p14="http://schemas.microsoft.com/office/powerpoint/2010/main" val="72738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C8BC7-417C-E9FA-2F2B-C98C4A15B3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3C5A2D-9184-9C32-E0A8-6C3EF598D9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453545-2772-6CEE-E15B-3391145C18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CFA52A-548C-40A5-81F0-BF9A7AA72EE5}" type="datetimeFigureOut">
              <a:rPr lang="en-US" smtClean="0"/>
              <a:t>9/17/2025</a:t>
            </a:fld>
            <a:endParaRPr lang="en-US"/>
          </a:p>
        </p:txBody>
      </p:sp>
      <p:sp>
        <p:nvSpPr>
          <p:cNvPr id="5" name="Footer Placeholder 4">
            <a:extLst>
              <a:ext uri="{FF2B5EF4-FFF2-40B4-BE49-F238E27FC236}">
                <a16:creationId xmlns:a16="http://schemas.microsoft.com/office/drawing/2014/main" id="{399D6017-BF67-48C6-9F76-B2DAEC1A37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9C661A-20C5-D3DD-BB6C-145CED867E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B2E5FA-759C-487C-BCB6-A980DBA77FAE}" type="slidenum">
              <a:rPr lang="en-US" smtClean="0"/>
              <a:t>‹#›</a:t>
            </a:fld>
            <a:endParaRPr lang="en-US"/>
          </a:p>
        </p:txBody>
      </p:sp>
    </p:spTree>
    <p:extLst>
      <p:ext uri="{BB962C8B-B14F-4D97-AF65-F5344CB8AC3E}">
        <p14:creationId xmlns:p14="http://schemas.microsoft.com/office/powerpoint/2010/main" val="3386005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m.media-amazon.com/images/I/D1oC-c3G5TS.pdf" TargetMode="External"/><Relationship Id="rId2" Type="http://schemas.openxmlformats.org/officeDocument/2006/relationships/hyperlink" Target="https://www.robotshop.com/products/inductive-proximity-sensor-detection-switch?qd=024e92acccc6c632bfe298e620abfd3e" TargetMode="External"/><Relationship Id="rId1" Type="http://schemas.openxmlformats.org/officeDocument/2006/relationships/slideLayout" Target="../slideLayouts/slideLayout2.xml"/><Relationship Id="rId4" Type="http://schemas.openxmlformats.org/officeDocument/2006/relationships/hyperlink" Target="https://cdn.robotshop.com/media/i/int/rb-int-01/pdf/datasheet-30-49649.pdf"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dn.automationdirect.com/static/specs/s211seriesvalves.pdf" TargetMode="External"/><Relationship Id="rId2" Type="http://schemas.openxmlformats.org/officeDocument/2006/relationships/hyperlink" Target="https://www.robotshop.com/products/actuonix-l16-linear-actuator-100mm-631-12v-with-limit-switches?qd=28e6340a5eb14948d3f4ec6e7757a5e3" TargetMode="External"/><Relationship Id="rId1" Type="http://schemas.openxmlformats.org/officeDocument/2006/relationships/slideLayout" Target="../slideLayouts/slideLayout2.xml"/><Relationship Id="rId6" Type="http://schemas.openxmlformats.org/officeDocument/2006/relationships/hyperlink" Target="https://www.pololu.com/product/1209/specs" TargetMode="External"/><Relationship Id="rId5" Type="http://schemas.openxmlformats.org/officeDocument/2006/relationships/hyperlink" Target="https://www.adafruit.com/product/1331" TargetMode="External"/><Relationship Id="rId4" Type="http://schemas.openxmlformats.org/officeDocument/2006/relationships/hyperlink" Target="https://m.media-amazon.com/images/I/D1oC-c3G5TS.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4A70-5127-8555-F3D7-0A1AF9E09F08}"/>
              </a:ext>
            </a:extLst>
          </p:cNvPr>
          <p:cNvSpPr>
            <a:spLocks noGrp="1"/>
          </p:cNvSpPr>
          <p:nvPr>
            <p:ph type="ctrTitle"/>
          </p:nvPr>
        </p:nvSpPr>
        <p:spPr>
          <a:xfrm>
            <a:off x="1524000" y="1515273"/>
            <a:ext cx="9144000" cy="3827454"/>
          </a:xfrm>
        </p:spPr>
        <p:txBody>
          <a:bodyPr>
            <a:normAutofit/>
          </a:bodyPr>
          <a:lstStyle/>
          <a:p>
            <a:r>
              <a:rPr lang="en-US" sz="4800" b="1" dirty="0"/>
              <a:t>ME230: Project Pitch Presentation</a:t>
            </a:r>
            <a:br>
              <a:rPr lang="en-US" sz="4800" dirty="0"/>
            </a:br>
            <a:br>
              <a:rPr lang="en-US" sz="4800" dirty="0">
                <a:highlight>
                  <a:srgbClr val="00FF00"/>
                </a:highlight>
              </a:rPr>
            </a:br>
            <a:r>
              <a:rPr lang="en-US" sz="4800" i="1" dirty="0">
                <a:highlight>
                  <a:srgbClr val="00FF00"/>
                </a:highlight>
              </a:rPr>
              <a:t>[Put project title here. Briefly, what do you propose to design + build?]</a:t>
            </a:r>
            <a:br>
              <a:rPr lang="en-US" sz="4800" i="1" dirty="0"/>
            </a:br>
            <a:br>
              <a:rPr lang="en-US" sz="4800" i="1" dirty="0"/>
            </a:br>
            <a:r>
              <a:rPr lang="en-US" sz="3100" b="1" dirty="0"/>
              <a:t>Team:</a:t>
            </a:r>
            <a:r>
              <a:rPr lang="en-US" sz="3100" i="1" dirty="0"/>
              <a:t> </a:t>
            </a:r>
            <a:r>
              <a:rPr lang="en-US" sz="3100" i="1" dirty="0">
                <a:highlight>
                  <a:srgbClr val="00FF00"/>
                </a:highlight>
              </a:rPr>
              <a:t>[Put team member name(s) here]</a:t>
            </a:r>
            <a:endParaRPr lang="en-US" sz="4800" i="1" dirty="0">
              <a:highlight>
                <a:srgbClr val="00FF00"/>
              </a:highlight>
            </a:endParaRPr>
          </a:p>
        </p:txBody>
      </p:sp>
    </p:spTree>
    <p:extLst>
      <p:ext uri="{BB962C8B-B14F-4D97-AF65-F5344CB8AC3E}">
        <p14:creationId xmlns:p14="http://schemas.microsoft.com/office/powerpoint/2010/main" val="3188358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B7A0-2E0E-EDC3-CC7C-91A4C4B1489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49DDB95-6125-8AC8-344F-C0404BC44CF6}"/>
              </a:ext>
            </a:extLst>
          </p:cNvPr>
          <p:cNvGraphicFramePr>
            <a:graphicFrameLocks noGrp="1"/>
          </p:cNvGraphicFramePr>
          <p:nvPr>
            <p:extLst>
              <p:ext uri="{D42A27DB-BD31-4B8C-83A1-F6EECF244321}">
                <p14:modId xmlns:p14="http://schemas.microsoft.com/office/powerpoint/2010/main" val="4027798970"/>
              </p:ext>
            </p:extLst>
          </p:nvPr>
        </p:nvGraphicFramePr>
        <p:xfrm>
          <a:off x="304292" y="268732"/>
          <a:ext cx="11583416" cy="2011680"/>
        </p:xfrm>
        <a:graphic>
          <a:graphicData uri="http://schemas.openxmlformats.org/drawingml/2006/table">
            <a:tbl>
              <a:tblPr firstRow="1" bandRow="1">
                <a:tableStyleId>{2D5ABB26-0587-4C30-8999-92F81FD0307C}</a:tableStyleId>
              </a:tblPr>
              <a:tblGrid>
                <a:gridCol w="11583416">
                  <a:extLst>
                    <a:ext uri="{9D8B030D-6E8A-4147-A177-3AD203B41FA5}">
                      <a16:colId xmlns:a16="http://schemas.microsoft.com/office/drawing/2014/main" val="27735191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to…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Provide an overview of your ME230 project. Briefly, what are its objectives and what will it be like? How does it work?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Convince your audience that the real-world problem you seek to solve with your ME230 project is necessary and currently lacks a satisfactory solution or that you present an interesting take on a solution.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spTree>
    <p:extLst>
      <p:ext uri="{BB962C8B-B14F-4D97-AF65-F5344CB8AC3E}">
        <p14:creationId xmlns:p14="http://schemas.microsoft.com/office/powerpoint/2010/main" val="1485080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29CFCDC-69AB-CCE7-AE43-25CABF50381A}"/>
              </a:ext>
            </a:extLst>
          </p:cNvPr>
          <p:cNvGraphicFramePr>
            <a:graphicFrameLocks noGrp="1"/>
          </p:cNvGraphicFramePr>
          <p:nvPr>
            <p:extLst>
              <p:ext uri="{D42A27DB-BD31-4B8C-83A1-F6EECF244321}">
                <p14:modId xmlns:p14="http://schemas.microsoft.com/office/powerpoint/2010/main" val="2395729420"/>
              </p:ext>
            </p:extLst>
          </p:nvPr>
        </p:nvGraphicFramePr>
        <p:xfrm>
          <a:off x="304292" y="268732"/>
          <a:ext cx="11583416" cy="1463040"/>
        </p:xfrm>
        <a:graphic>
          <a:graphicData uri="http://schemas.openxmlformats.org/drawingml/2006/table">
            <a:tbl>
              <a:tblPr firstRow="1" bandRow="1">
                <a:tableStyleId>{2D5ABB26-0587-4C30-8999-92F81FD0307C}</a:tableStyleId>
              </a:tblPr>
              <a:tblGrid>
                <a:gridCol w="11583416">
                  <a:extLst>
                    <a:ext uri="{9D8B030D-6E8A-4147-A177-3AD203B41FA5}">
                      <a16:colId xmlns:a16="http://schemas.microsoft.com/office/drawing/2014/main" val="27735191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(and additional slides, as needed) to show what you plan to build. What will it look like and what will its features be? Provide a sense of scale. What components and materials will you use? You can use hand sketches or computer-generated images/models. Label the image(s) to identify important parts and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spTree>
    <p:extLst>
      <p:ext uri="{BB962C8B-B14F-4D97-AF65-F5344CB8AC3E}">
        <p14:creationId xmlns:p14="http://schemas.microsoft.com/office/powerpoint/2010/main" val="129243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27A4E-D39A-D310-F191-F4C974F2FF5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670899B-F3A5-041D-3144-061A56C56994}"/>
              </a:ext>
            </a:extLst>
          </p:cNvPr>
          <p:cNvGraphicFramePr>
            <a:graphicFrameLocks noGrp="1"/>
          </p:cNvGraphicFramePr>
          <p:nvPr>
            <p:extLst>
              <p:ext uri="{D42A27DB-BD31-4B8C-83A1-F6EECF244321}">
                <p14:modId xmlns:p14="http://schemas.microsoft.com/office/powerpoint/2010/main" val="1901401284"/>
              </p:ext>
            </p:extLst>
          </p:nvPr>
        </p:nvGraphicFramePr>
        <p:xfrm>
          <a:off x="618826" y="2046732"/>
          <a:ext cx="10954347" cy="4358640"/>
        </p:xfrm>
        <a:graphic>
          <a:graphicData uri="http://schemas.openxmlformats.org/drawingml/2006/table">
            <a:tbl>
              <a:tblPr firstRow="1" bandRow="1">
                <a:tableStyleId>{5940675A-B579-460E-94D1-54222C63F5DA}</a:tableStyleId>
              </a:tblPr>
              <a:tblGrid>
                <a:gridCol w="2936137">
                  <a:extLst>
                    <a:ext uri="{9D8B030D-6E8A-4147-A177-3AD203B41FA5}">
                      <a16:colId xmlns:a16="http://schemas.microsoft.com/office/drawing/2014/main" val="977464305"/>
                    </a:ext>
                  </a:extLst>
                </a:gridCol>
                <a:gridCol w="2332653">
                  <a:extLst>
                    <a:ext uri="{9D8B030D-6E8A-4147-A177-3AD203B41FA5}">
                      <a16:colId xmlns:a16="http://schemas.microsoft.com/office/drawing/2014/main" val="1935077333"/>
                    </a:ext>
                  </a:extLst>
                </a:gridCol>
                <a:gridCol w="5685557">
                  <a:extLst>
                    <a:ext uri="{9D8B030D-6E8A-4147-A177-3AD203B41FA5}">
                      <a16:colId xmlns:a16="http://schemas.microsoft.com/office/drawing/2014/main" val="1399441666"/>
                    </a:ext>
                  </a:extLst>
                </a:gridCol>
              </a:tblGrid>
              <a:tr h="393192">
                <a:tc>
                  <a:txBody>
                    <a:bodyPr/>
                    <a:lstStyle/>
                    <a:p>
                      <a:pPr algn="ctr"/>
                      <a:r>
                        <a:rPr lang="en-US" sz="2000" b="1" dirty="0"/>
                        <a:t>Sensor Name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000" b="1" dirty="0"/>
                        <a:t>Signal Type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000" b="1" dirty="0"/>
                        <a:t>What will it measure? </a:t>
                      </a:r>
                    </a:p>
                    <a:p>
                      <a:pPr algn="ctr"/>
                      <a:r>
                        <a:rPr lang="en-US" sz="2000" b="1" dirty="0"/>
                        <a:t>What event(s) will it detect?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718395935"/>
                  </a:ext>
                </a:extLst>
              </a:tr>
              <a:tr h="914400">
                <a:tc>
                  <a:txBody>
                    <a:bodyPr/>
                    <a:lstStyle/>
                    <a:p>
                      <a:pPr algn="ctr"/>
                      <a:r>
                        <a:rPr lang="en-US" dirty="0">
                          <a:hlinkClick r:id="rId2"/>
                        </a:rPr>
                        <a:t>Inductive Proximity Switch</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Digital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i="0" dirty="0"/>
                        <a:t>The sensor will detect when the sliding platform is within 4mm of its home position.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76011446"/>
                  </a:ext>
                </a:extLst>
              </a:tr>
              <a:tr h="914400">
                <a:tc>
                  <a:txBody>
                    <a:bodyPr/>
                    <a:lstStyle/>
                    <a:p>
                      <a:pPr algn="ctr"/>
                      <a:r>
                        <a:rPr lang="en-US" dirty="0">
                          <a:hlinkClick r:id="rId3"/>
                        </a:rPr>
                        <a:t>Sound Sensor Module from ELEGOO kit</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Digital and </a:t>
                      </a:r>
                    </a:p>
                    <a:p>
                      <a:pPr algn="ctr"/>
                      <a:r>
                        <a:rPr lang="en-US" dirty="0"/>
                        <a:t>Analog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The sensor will continuously measure the sounds captured by a microphone. It will also detect when the surrounding volume exceeds a safe threshold of 80dB.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5537758"/>
                  </a:ext>
                </a:extLst>
              </a:tr>
              <a:tr h="914400">
                <a:tc>
                  <a:txBody>
                    <a:bodyPr/>
                    <a:lstStyle/>
                    <a:p>
                      <a:pPr algn="ctr"/>
                      <a:r>
                        <a:rPr lang="en-US" dirty="0">
                          <a:hlinkClick r:id="rId4"/>
                        </a:rPr>
                        <a:t>Force Sensitive Resistor</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Analog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The sensor will measure the mass of water in the tank. It will be able to detect when the tank is full.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1984068"/>
                  </a:ext>
                </a:extLst>
              </a:tr>
              <a:tr h="914400">
                <a:tc>
                  <a:txBody>
                    <a:bodyPr/>
                    <a:lstStyle/>
                    <a:p>
                      <a:pPr algn="ctr"/>
                      <a:r>
                        <a:rPr lang="en-US" dirty="0">
                          <a:hlinkClick r:id="rId3"/>
                        </a:rPr>
                        <a:t>Ultrasonic Distance Sensor from ELEGOO kit</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Digital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The sensor will measure how far the robotic is from the nearest obstacle in front of it.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74706801"/>
                  </a:ext>
                </a:extLst>
              </a:tr>
            </a:tbl>
          </a:graphicData>
        </a:graphic>
      </p:graphicFrame>
      <p:graphicFrame>
        <p:nvGraphicFramePr>
          <p:cNvPr id="4" name="Table 3">
            <a:extLst>
              <a:ext uri="{FF2B5EF4-FFF2-40B4-BE49-F238E27FC236}">
                <a16:creationId xmlns:a16="http://schemas.microsoft.com/office/drawing/2014/main" id="{354C7E53-03DB-FED0-12F3-DC276A2F51B9}"/>
              </a:ext>
            </a:extLst>
          </p:cNvPr>
          <p:cNvGraphicFramePr>
            <a:graphicFrameLocks noGrp="1"/>
          </p:cNvGraphicFramePr>
          <p:nvPr>
            <p:extLst>
              <p:ext uri="{D42A27DB-BD31-4B8C-83A1-F6EECF244321}">
                <p14:modId xmlns:p14="http://schemas.microsoft.com/office/powerpoint/2010/main" val="4245846544"/>
              </p:ext>
            </p:extLst>
          </p:nvPr>
        </p:nvGraphicFramePr>
        <p:xfrm>
          <a:off x="230631" y="131572"/>
          <a:ext cx="11342541" cy="1737360"/>
        </p:xfrm>
        <a:graphic>
          <a:graphicData uri="http://schemas.openxmlformats.org/drawingml/2006/table">
            <a:tbl>
              <a:tblPr firstRow="1" bandRow="1">
                <a:tableStyleId>{2D5ABB26-0587-4C30-8999-92F81FD0307C}</a:tableStyleId>
              </a:tblPr>
              <a:tblGrid>
                <a:gridCol w="11342541">
                  <a:extLst>
                    <a:ext uri="{9D8B030D-6E8A-4147-A177-3AD203B41FA5}">
                      <a16:colId xmlns:a16="http://schemas.microsoft.com/office/drawing/2014/main" val="27735191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to list the inputs (i.e. sensors) for your system. What will each sensor be used to measure and/or what event will it detect? Create a clickable link to a website that contains the sensor’s specifications. If the part is from your ELEGOO kit, you can link to the kit user manual. Indicate which type of signal will you get from the sensor: digital or analog.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and the examples in the table below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spTree>
    <p:extLst>
      <p:ext uri="{BB962C8B-B14F-4D97-AF65-F5344CB8AC3E}">
        <p14:creationId xmlns:p14="http://schemas.microsoft.com/office/powerpoint/2010/main" val="391599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261D3-30FA-E8EC-D598-3E3E9245988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3114992-BFBC-F820-AB14-5CB3737F986D}"/>
              </a:ext>
            </a:extLst>
          </p:cNvPr>
          <p:cNvGraphicFramePr>
            <a:graphicFrameLocks noGrp="1"/>
          </p:cNvGraphicFramePr>
          <p:nvPr>
            <p:extLst>
              <p:ext uri="{D42A27DB-BD31-4B8C-83A1-F6EECF244321}">
                <p14:modId xmlns:p14="http://schemas.microsoft.com/office/powerpoint/2010/main" val="3477614336"/>
              </p:ext>
            </p:extLst>
          </p:nvPr>
        </p:nvGraphicFramePr>
        <p:xfrm>
          <a:off x="230631" y="131572"/>
          <a:ext cx="11342541" cy="2011680"/>
        </p:xfrm>
        <a:graphic>
          <a:graphicData uri="http://schemas.openxmlformats.org/drawingml/2006/table">
            <a:tbl>
              <a:tblPr firstRow="1" bandRow="1">
                <a:tableStyleId>{2D5ABB26-0587-4C30-8999-92F81FD0307C}</a:tableStyleId>
              </a:tblPr>
              <a:tblGrid>
                <a:gridCol w="11342541">
                  <a:extLst>
                    <a:ext uri="{9D8B030D-6E8A-4147-A177-3AD203B41FA5}">
                      <a16:colId xmlns:a16="http://schemas.microsoft.com/office/drawing/2014/main" val="277351916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to list the outputs of your system. In what ways will you need to modulate each output (e.g. on/off, open/close, change temperature, change flow rate, change speed, change position). Create a clickable link to a website that contains the component’s specifications. If it is from the ELEGOO kit, you can link to the kit user manual. State the power requirements for each component. What supply voltage will it need and what is the maximum current you expect it to pull?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and the examples in the table below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graphicFrame>
        <p:nvGraphicFramePr>
          <p:cNvPr id="9" name="Table 8">
            <a:extLst>
              <a:ext uri="{FF2B5EF4-FFF2-40B4-BE49-F238E27FC236}">
                <a16:creationId xmlns:a16="http://schemas.microsoft.com/office/drawing/2014/main" id="{BFD2C983-C61D-B95D-82D8-D8000066DB08}"/>
              </a:ext>
            </a:extLst>
          </p:cNvPr>
          <p:cNvGraphicFramePr>
            <a:graphicFrameLocks noGrp="1"/>
          </p:cNvGraphicFramePr>
          <p:nvPr>
            <p:extLst>
              <p:ext uri="{D42A27DB-BD31-4B8C-83A1-F6EECF244321}">
                <p14:modId xmlns:p14="http://schemas.microsoft.com/office/powerpoint/2010/main" val="231017716"/>
              </p:ext>
            </p:extLst>
          </p:nvPr>
        </p:nvGraphicFramePr>
        <p:xfrm>
          <a:off x="273385" y="2299208"/>
          <a:ext cx="11257032" cy="4427220"/>
        </p:xfrm>
        <a:graphic>
          <a:graphicData uri="http://schemas.openxmlformats.org/drawingml/2006/table">
            <a:tbl>
              <a:tblPr firstRow="1" bandRow="1">
                <a:tableStyleId>{5940675A-B579-460E-94D1-54222C63F5DA}</a:tableStyleId>
              </a:tblPr>
              <a:tblGrid>
                <a:gridCol w="2594865">
                  <a:extLst>
                    <a:ext uri="{9D8B030D-6E8A-4147-A177-3AD203B41FA5}">
                      <a16:colId xmlns:a16="http://schemas.microsoft.com/office/drawing/2014/main" val="977464305"/>
                    </a:ext>
                  </a:extLst>
                </a:gridCol>
                <a:gridCol w="2414016">
                  <a:extLst>
                    <a:ext uri="{9D8B030D-6E8A-4147-A177-3AD203B41FA5}">
                      <a16:colId xmlns:a16="http://schemas.microsoft.com/office/drawing/2014/main" val="1935077333"/>
                    </a:ext>
                  </a:extLst>
                </a:gridCol>
                <a:gridCol w="6248151">
                  <a:extLst>
                    <a:ext uri="{9D8B030D-6E8A-4147-A177-3AD203B41FA5}">
                      <a16:colId xmlns:a16="http://schemas.microsoft.com/office/drawing/2014/main" val="1399441666"/>
                    </a:ext>
                  </a:extLst>
                </a:gridCol>
              </a:tblGrid>
              <a:tr h="393192">
                <a:tc>
                  <a:txBody>
                    <a:bodyPr/>
                    <a:lstStyle/>
                    <a:p>
                      <a:pPr algn="ctr"/>
                      <a:r>
                        <a:rPr lang="en-US" sz="2000" b="1" dirty="0"/>
                        <a:t>Output Name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000" b="1" dirty="0"/>
                        <a:t>Power Requirements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000" b="1" dirty="0"/>
                        <a:t>How will you modulate this output?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718395935"/>
                  </a:ext>
                </a:extLst>
              </a:tr>
              <a:tr h="745236">
                <a:tc>
                  <a:txBody>
                    <a:bodyPr/>
                    <a:lstStyle/>
                    <a:p>
                      <a:pPr algn="ctr"/>
                      <a:r>
                        <a:rPr lang="en-US" dirty="0">
                          <a:hlinkClick r:id="rId2"/>
                        </a:rPr>
                        <a:t>Linear Actuator</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Supply Voltage: 12V</a:t>
                      </a:r>
                    </a:p>
                    <a:p>
                      <a:pPr algn="ctr"/>
                      <a:r>
                        <a:rPr lang="en-US" dirty="0"/>
                        <a:t>Max. Current: 650mA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i="0" dirty="0"/>
                        <a:t>We will adjust the position of the linear actuator to place the figurine anywhere from 1” to 4” away from the goal.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76011446"/>
                  </a:ext>
                </a:extLst>
              </a:tr>
              <a:tr h="745236">
                <a:tc>
                  <a:txBody>
                    <a:bodyPr/>
                    <a:lstStyle/>
                    <a:p>
                      <a:pPr algn="ctr"/>
                      <a:r>
                        <a:rPr lang="en-US" dirty="0">
                          <a:hlinkClick r:id="rId3"/>
                        </a:rPr>
                        <a:t>S211YF16K4DG1 Solenoid Valve</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Supply Voltage: 24V</a:t>
                      </a:r>
                    </a:p>
                    <a:p>
                      <a:pPr algn="ctr"/>
                      <a:r>
                        <a:rPr lang="en-US" dirty="0"/>
                        <a:t>Max. Current: 375mA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We will be able to open or close the valve depending on whether we want the tank to drain.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548264"/>
                  </a:ext>
                </a:extLst>
              </a:tr>
              <a:tr h="745236">
                <a:tc>
                  <a:txBody>
                    <a:bodyPr/>
                    <a:lstStyle/>
                    <a:p>
                      <a:pPr algn="ctr"/>
                      <a:r>
                        <a:rPr lang="en-US" dirty="0">
                          <a:hlinkClick r:id="rId4"/>
                        </a:rPr>
                        <a:t>SG90 Servo Motor from ELEGOO kit</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Supply Voltage: 5V</a:t>
                      </a:r>
                    </a:p>
                    <a:p>
                      <a:pPr algn="ctr"/>
                      <a:r>
                        <a:rPr lang="en-US" dirty="0"/>
                        <a:t>Max. Current: 600mA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The position of the servo will be set to 0° when the gate is closed and 90° when the gate is open.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2270231"/>
                  </a:ext>
                </a:extLst>
              </a:tr>
              <a:tr h="745236">
                <a:tc>
                  <a:txBody>
                    <a:bodyPr/>
                    <a:lstStyle/>
                    <a:p>
                      <a:pPr algn="ctr"/>
                      <a:r>
                        <a:rPr lang="en-US" dirty="0">
                          <a:hlinkClick r:id="rId5"/>
                        </a:rPr>
                        <a:t>Peltier Thermo-Electric Cooler</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Supply Voltage: 5V</a:t>
                      </a:r>
                    </a:p>
                    <a:p>
                      <a:pPr algn="ctr"/>
                      <a:r>
                        <a:rPr lang="en-US" dirty="0"/>
                        <a:t>Max. Current: 1.5A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We will use the Peltier cooler to change the temperature of the enclosure anywhere from 50°F to 80°F.</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5076539"/>
                  </a:ext>
                </a:extLst>
              </a:tr>
              <a:tr h="745236">
                <a:tc>
                  <a:txBody>
                    <a:bodyPr/>
                    <a:lstStyle/>
                    <a:p>
                      <a:pPr algn="ctr"/>
                      <a:r>
                        <a:rPr lang="en-US" dirty="0">
                          <a:hlinkClick r:id="rId6"/>
                        </a:rPr>
                        <a:t>Bipolar Stepper Motor</a:t>
                      </a: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Supply Voltage: 2.7V</a:t>
                      </a:r>
                    </a:p>
                    <a:p>
                      <a:pPr algn="ctr"/>
                      <a:r>
                        <a:rPr lang="en-US" dirty="0"/>
                        <a:t>Max. Current: 1A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The indexing plate will rotate exactly 10° at a time. It will index in less than one second and pause for one second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8411852"/>
                  </a:ext>
                </a:extLst>
              </a:tr>
            </a:tbl>
          </a:graphicData>
        </a:graphic>
      </p:graphicFrame>
    </p:spTree>
    <p:extLst>
      <p:ext uri="{BB962C8B-B14F-4D97-AF65-F5344CB8AC3E}">
        <p14:creationId xmlns:p14="http://schemas.microsoft.com/office/powerpoint/2010/main" val="412759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9CCC549-62BC-3D5E-5E9C-7340FF13BC16}"/>
              </a:ext>
            </a:extLst>
          </p:cNvPr>
          <p:cNvGraphicFramePr>
            <a:graphicFrameLocks noGrp="1"/>
          </p:cNvGraphicFramePr>
          <p:nvPr>
            <p:extLst>
              <p:ext uri="{D42A27DB-BD31-4B8C-83A1-F6EECF244321}">
                <p14:modId xmlns:p14="http://schemas.microsoft.com/office/powerpoint/2010/main" val="3639235492"/>
              </p:ext>
            </p:extLst>
          </p:nvPr>
        </p:nvGraphicFramePr>
        <p:xfrm>
          <a:off x="267207" y="243332"/>
          <a:ext cx="11342541" cy="914400"/>
        </p:xfrm>
        <a:graphic>
          <a:graphicData uri="http://schemas.openxmlformats.org/drawingml/2006/table">
            <a:tbl>
              <a:tblPr firstRow="1" bandRow="1">
                <a:tableStyleId>{2D5ABB26-0587-4C30-8999-92F81FD0307C}</a:tableStyleId>
              </a:tblPr>
              <a:tblGrid>
                <a:gridCol w="11342541">
                  <a:extLst>
                    <a:ext uri="{9D8B030D-6E8A-4147-A177-3AD203B41FA5}">
                      <a16:colId xmlns:a16="http://schemas.microsoft.com/office/drawing/2014/main" val="277351916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to show/explain all power supplies and driver circuits that you will need.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spTree>
    <p:extLst>
      <p:ext uri="{BB962C8B-B14F-4D97-AF65-F5344CB8AC3E}">
        <p14:creationId xmlns:p14="http://schemas.microsoft.com/office/powerpoint/2010/main" val="318502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49754-E9B2-EE81-90C2-3FDEBF78022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A6D2A97-D0D9-D0FC-4C2F-9209EB7E97D9}"/>
              </a:ext>
            </a:extLst>
          </p:cNvPr>
          <p:cNvGraphicFramePr>
            <a:graphicFrameLocks noGrp="1"/>
          </p:cNvGraphicFramePr>
          <p:nvPr>
            <p:extLst>
              <p:ext uri="{D42A27DB-BD31-4B8C-83A1-F6EECF244321}">
                <p14:modId xmlns:p14="http://schemas.microsoft.com/office/powerpoint/2010/main" val="3706849607"/>
              </p:ext>
            </p:extLst>
          </p:nvPr>
        </p:nvGraphicFramePr>
        <p:xfrm>
          <a:off x="267207" y="243332"/>
          <a:ext cx="11342541" cy="1188720"/>
        </p:xfrm>
        <a:graphic>
          <a:graphicData uri="http://schemas.openxmlformats.org/drawingml/2006/table">
            <a:tbl>
              <a:tblPr firstRow="1" bandRow="1">
                <a:tableStyleId>{2D5ABB26-0587-4C30-8999-92F81FD0307C}</a:tableStyleId>
              </a:tblPr>
              <a:tblGrid>
                <a:gridCol w="11342541">
                  <a:extLst>
                    <a:ext uri="{9D8B030D-6E8A-4147-A177-3AD203B41FA5}">
                      <a16:colId xmlns:a16="http://schemas.microsoft.com/office/drawing/2014/main" val="277351916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to show/explain other code/control complexities you plan on adding to your project (i.e. how a timer or counter will be implemented in your project?). What purpose </a:t>
                      </a:r>
                      <a:r>
                        <a:rPr lang="en-US" i="1"/>
                        <a:t>will they serve? </a:t>
                      </a: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spTree>
    <p:extLst>
      <p:ext uri="{BB962C8B-B14F-4D97-AF65-F5344CB8AC3E}">
        <p14:creationId xmlns:p14="http://schemas.microsoft.com/office/powerpoint/2010/main" val="3171302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0628B-0C45-7293-C5C3-22945C16298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3A904AC-B1E4-318A-AE74-B882C4758A4E}"/>
              </a:ext>
            </a:extLst>
          </p:cNvPr>
          <p:cNvGraphicFramePr>
            <a:graphicFrameLocks noGrp="1"/>
          </p:cNvGraphicFramePr>
          <p:nvPr>
            <p:extLst>
              <p:ext uri="{D42A27DB-BD31-4B8C-83A1-F6EECF244321}">
                <p14:modId xmlns:p14="http://schemas.microsoft.com/office/powerpoint/2010/main" val="985885190"/>
              </p:ext>
            </p:extLst>
          </p:nvPr>
        </p:nvGraphicFramePr>
        <p:xfrm>
          <a:off x="267207" y="243332"/>
          <a:ext cx="11342541" cy="1188720"/>
        </p:xfrm>
        <a:graphic>
          <a:graphicData uri="http://schemas.openxmlformats.org/drawingml/2006/table">
            <a:tbl>
              <a:tblPr firstRow="1" bandRow="1">
                <a:tableStyleId>{2D5ABB26-0587-4C30-8999-92F81FD0307C}</a:tableStyleId>
              </a:tblPr>
              <a:tblGrid>
                <a:gridCol w="11342541">
                  <a:extLst>
                    <a:ext uri="{9D8B030D-6E8A-4147-A177-3AD203B41FA5}">
                      <a16:colId xmlns:a16="http://schemas.microsoft.com/office/drawing/2014/main" val="277351916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Instructions: Use this slide to describe how information will be communicated to a user. What type of display will you use? What information will be communicated?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(Delete this box before presenting)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3751047"/>
                  </a:ext>
                </a:extLst>
              </a:tr>
            </a:tbl>
          </a:graphicData>
        </a:graphic>
      </p:graphicFrame>
    </p:spTree>
    <p:extLst>
      <p:ext uri="{BB962C8B-B14F-4D97-AF65-F5344CB8AC3E}">
        <p14:creationId xmlns:p14="http://schemas.microsoft.com/office/powerpoint/2010/main" val="30241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1571</TotalTime>
  <Words>840</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ME230: Project Pitch Presentation  [Put project title here. Briefly, what do you propose to design + build?]  Team: [Put team member name(s)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Bercich, Rebecca</dc:creator>
  <cp:lastModifiedBy>Adam, Georges</cp:lastModifiedBy>
  <cp:revision>18</cp:revision>
  <dcterms:created xsi:type="dcterms:W3CDTF">2025-08-27T19:52:01Z</dcterms:created>
  <dcterms:modified xsi:type="dcterms:W3CDTF">2025-09-17T12:43:49Z</dcterms:modified>
</cp:coreProperties>
</file>